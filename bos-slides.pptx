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106650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41127"/>
            <a:ext cx="82712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Observability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1376" y="803077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business context to technical monitoring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376" y="1237952"/>
            <a:ext cx="3965674" cy="851892"/>
          </a:xfrm>
          <a:prstGeom prst="roundRect">
            <a:avLst>
              <a:gd name="adj" fmla="val 5963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5189" y="1237952"/>
            <a:ext cx="0" cy="85189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401" y="1364903"/>
            <a:ext cx="36855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1401" y="1517303"/>
            <a:ext cx="368551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observability is mature. We've reduced MTTR from 9 to 3.75 hours through infrastructure monitoring, APM, synthetics, and alerting. That's as far as we can get without business context.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14751" y="1237952"/>
            <a:ext cx="3965674" cy="851892"/>
          </a:xfrm>
          <a:prstGeom prst="roundRect">
            <a:avLst>
              <a:gd name="adj" fmla="val 5963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938564" y="1237952"/>
            <a:ext cx="0" cy="85189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4776" y="1364903"/>
            <a:ext cx="36855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14776" y="1517303"/>
            <a:ext cx="368551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breaks, we can't immediately answer: How many customers are affected? What's the dollar impact? Which business outcome is failing?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1376" y="2216795"/>
            <a:ext cx="8109049" cy="774353"/>
          </a:xfrm>
          <a:prstGeom prst="roundRect">
            <a:avLst>
              <a:gd name="adj" fmla="val 6560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5189" y="2216795"/>
            <a:ext cx="0" cy="774353"/>
          </a:xfrm>
          <a:prstGeom prst="line">
            <a:avLst/>
          </a:prstGeom>
          <a:noFill/>
          <a:ln w="47625">
            <a:solidFill>
              <a:srgbClr val="D71E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702" y="2343745"/>
            <a:ext cx="78601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96702" y="2508796"/>
            <a:ext cx="786014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incident happens, we spend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60 minutes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trying to determine business impact. We call Product Owners, dig through docs, and guess at customer counts. The goal is to know business impact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incident is declared.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1376" y="3118098"/>
            <a:ext cx="2618333" cy="828824"/>
          </a:xfrm>
          <a:prstGeom prst="roundRect">
            <a:avLst>
              <a:gd name="adj" fmla="val 6129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71376" y="3137148"/>
            <a:ext cx="2618333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327" y="3257699"/>
            <a:ext cx="24117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8327" y="3397300"/>
            <a:ext cx="24117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running?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8327" y="3581400"/>
            <a:ext cx="241172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200ms, error 0.1%, availability 99.9%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16660" y="3118098"/>
            <a:ext cx="2618333" cy="828824"/>
          </a:xfrm>
          <a:prstGeom prst="roundRect">
            <a:avLst>
              <a:gd name="adj" fmla="val 6129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516660" y="3137148"/>
            <a:ext cx="2618333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3610" y="3257699"/>
            <a:ext cx="24117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Health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43610" y="3397300"/>
            <a:ext cx="24117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outcome achieved?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43610" y="3581400"/>
            <a:ext cx="24117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Credit check returning usable score for 85% of requests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1943" y="3118098"/>
            <a:ext cx="2618333" cy="828824"/>
          </a:xfrm>
          <a:prstGeom prst="roundRect">
            <a:avLst>
              <a:gd name="adj" fmla="val 6129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61943" y="3137148"/>
            <a:ext cx="2618333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8894" y="3257699"/>
            <a:ext cx="24117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88894" y="3397300"/>
            <a:ext cx="24117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consequence?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8894" y="3581400"/>
            <a:ext cx="241172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 loans blocked, $2M disbursements delayed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1376" y="4073872"/>
            <a:ext cx="8109049" cy="355402"/>
          </a:xfrm>
          <a:prstGeom prst="roundRect">
            <a:avLst>
              <a:gd name="adj" fmla="val 14294"/>
            </a:avLst>
          </a:prstGeom>
          <a:solidFill>
            <a:srgbClr val="F8F9F9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8602" y="4184898"/>
            <a:ext cx="7889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monitoring tells you the system is running. Business Observability tells you whether customers are getting what they need.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100935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41127"/>
            <a:ext cx="827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How It Works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1376" y="745927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is added at the end, not built in from the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376" y="1155353"/>
            <a:ext cx="4435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1376" y="1364903"/>
            <a:ext cx="4348311" cy="2647057"/>
          </a:xfrm>
          <a:prstGeom prst="roundRect">
            <a:avLst>
              <a:gd name="adj" fmla="val 1919"/>
            </a:avLst>
          </a:prstGeom>
          <a:solidFill>
            <a:srgbClr val="FDEDEC"/>
          </a:solidFill>
          <a:ln w="9525">
            <a:solidFill>
              <a:srgbClr val="F5B7B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2402" y="1475929"/>
            <a:ext cx="4126260" cy="370582"/>
          </a:xfrm>
          <a:prstGeom prst="roundRect">
            <a:avLst>
              <a:gd name="adj" fmla="val 102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01452" y="1475929"/>
            <a:ext cx="0" cy="37058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702" y="155957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9925" y="160392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76052" y="1539329"/>
            <a:ext cx="37295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defines requirements. </a:t>
            </a:r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 stays in their head or in scattered docs.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139" y="1897261"/>
            <a:ext cx="42087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2402" y="2052786"/>
            <a:ext cx="4126260" cy="370582"/>
          </a:xfrm>
          <a:prstGeom prst="roundRect">
            <a:avLst>
              <a:gd name="adj" fmla="val 102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01452" y="2052786"/>
            <a:ext cx="0" cy="37058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702" y="213642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9925" y="2180779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76052" y="2116187"/>
            <a:ext cx="37295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build the product. </a:t>
            </a:r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throw it over the wall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operations when done.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139" y="2474119"/>
            <a:ext cx="42087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402" y="2629644"/>
            <a:ext cx="4126260" cy="370582"/>
          </a:xfrm>
          <a:prstGeom prst="roundRect">
            <a:avLst>
              <a:gd name="adj" fmla="val 102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01452" y="2629644"/>
            <a:ext cx="0" cy="37058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702" y="271328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69925" y="275763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76052" y="2693045"/>
            <a:ext cx="37295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adds monitoring at the end. </a:t>
            </a:r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business context available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 instrument what we can see.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139" y="3050977"/>
            <a:ext cx="42087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402" y="3206502"/>
            <a:ext cx="4126260" cy="370582"/>
          </a:xfrm>
          <a:prstGeom prst="roundRect">
            <a:avLst>
              <a:gd name="adj" fmla="val 102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901452" y="3206502"/>
            <a:ext cx="0" cy="370582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702" y="329014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69925" y="3334494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76052" y="3269903"/>
            <a:ext cx="37295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happens. </a:t>
            </a:r>
            <a:pPr algn="l"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scramble</a:t>
            </a:r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reach POs, find docs, and estimate impact.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82402" y="3615184"/>
            <a:ext cx="4126260" cy="285750"/>
          </a:xfrm>
          <a:prstGeom prst="roundRect">
            <a:avLst>
              <a:gd name="adj" fmla="val 13333"/>
            </a:avLst>
          </a:prstGeom>
          <a:solidFill>
            <a:srgbClr val="922B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44670" y="3691384"/>
            <a:ext cx="40017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60 minutes or more to determine business impact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22838" y="1155353"/>
            <a:ext cx="36287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CREDIT CHECK SERVICE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22838" y="1364903"/>
            <a:ext cx="3557588" cy="1651248"/>
          </a:xfrm>
          <a:prstGeom prst="roundRect">
            <a:avLst>
              <a:gd name="adj" fmla="val 3076"/>
            </a:avLst>
          </a:prstGeom>
          <a:solidFill>
            <a:srgbClr val="F8F9F9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59313" y="1475929"/>
            <a:ext cx="3350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59313" y="1669554"/>
            <a:ext cx="335032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Equifax was returning "no valid credit score" for 90% of requests. The service was technically healthy.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59313" y="2185987"/>
            <a:ext cx="328463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59313" y="2047875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 Time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75214" y="2047875"/>
            <a:ext cx="23141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200ms — OK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59313" y="2366963"/>
            <a:ext cx="328463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59313" y="2228850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75214" y="2228850"/>
            <a:ext cx="23141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— OK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59313" y="2547937"/>
            <a:ext cx="328463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9313" y="2409825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475214" y="2409825"/>
            <a:ext cx="23141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 — OK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59313" y="2728912"/>
            <a:ext cx="3284637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9313" y="2590800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blocked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475214" y="2590800"/>
            <a:ext cx="23141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couldn't proceed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59313" y="2771775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discover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75214" y="2771775"/>
            <a:ext cx="23141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— business noticed first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322838" y="3092351"/>
            <a:ext cx="3557588" cy="825252"/>
          </a:xfrm>
          <a:prstGeom prst="roundRect">
            <a:avLst>
              <a:gd name="adj" fmla="val 6156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5341888" y="3092351"/>
            <a:ext cx="0" cy="825252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7888" y="3193852"/>
            <a:ext cx="3330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9A7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DIFFICULT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7888" y="3358902"/>
            <a:ext cx="3265587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business success criteria defined for services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system of record for business flows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knowledge leaves when people leave</a:t>
            </a:r>
            <a:endParaRPr lang="en-US" sz="800" dirty="0"/>
          </a:p>
          <a:p>
            <a:pPr algn="l" marL="88900" indent="-88900">
              <a:buSzPct val="100000"/>
              <a:buChar char="•"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show technical health, not business outcomes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98405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15826"/>
            <a:ext cx="827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How It Should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1376" y="720626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personas working together, business context captured up front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376" y="1130052"/>
            <a:ext cx="5258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1376" y="1314152"/>
            <a:ext cx="5155406" cy="2994124"/>
          </a:xfrm>
          <a:prstGeom prst="roundRect">
            <a:avLst>
              <a:gd name="adj" fmla="val 1697"/>
            </a:avLst>
          </a:prstGeom>
          <a:solidFill>
            <a:srgbClr val="EAFAF1"/>
          </a:solidFill>
          <a:ln w="9525">
            <a:solidFill>
              <a:srgbClr val="A9D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60103" y="1577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39130" y="1672977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53222" y="1907828"/>
            <a:ext cx="5184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644104" y="1425178"/>
            <a:ext cx="4171652" cy="720923"/>
          </a:xfrm>
          <a:prstGeom prst="roundRect">
            <a:avLst>
              <a:gd name="adj" fmla="val 5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663154" y="1425178"/>
            <a:ext cx="0" cy="720923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705" y="1501378"/>
            <a:ext cx="400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what success looks like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83705" y="1640979"/>
            <a:ext cx="400916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Documents: Who are the stakeholders? What do they expect? What happens if those expectations aren't met?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783705" y="1924050"/>
            <a:ext cx="1829991" cy="145852"/>
          </a:xfrm>
          <a:prstGeom prst="roundRect">
            <a:avLst>
              <a:gd name="adj" fmla="val 17415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34455" y="1949351"/>
            <a:ext cx="1763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→ Business context for each service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19561" y="2158752"/>
            <a:ext cx="102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70920" y="2173039"/>
            <a:ext cx="10066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business context to...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060103" y="24382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08025" y="2533501"/>
            <a:ext cx="212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35347" y="2768352"/>
            <a:ext cx="354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644104" y="2285702"/>
            <a:ext cx="4171652" cy="720923"/>
          </a:xfrm>
          <a:prstGeom prst="roundRect">
            <a:avLst>
              <a:gd name="adj" fmla="val 5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663154" y="2285702"/>
            <a:ext cx="0" cy="720923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83705" y="2361902"/>
            <a:ext cx="400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instruments the product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705" y="2501503"/>
            <a:ext cx="400916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the business flows. Adds telemetry to track outcomes, not just errors. Instruments signals that answer "is this working for customers?"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783705" y="2784574"/>
            <a:ext cx="1627733" cy="145852"/>
          </a:xfrm>
          <a:prstGeom prst="roundRect">
            <a:avLst>
              <a:gd name="adj" fmla="val 17415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34455" y="2809875"/>
            <a:ext cx="15567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→ Business signals in the code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35660" y="3019276"/>
            <a:ext cx="102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87018" y="3033564"/>
            <a:ext cx="5659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flow to...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060103" y="32987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05198" y="3394025"/>
            <a:ext cx="2187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5707" y="3628876"/>
            <a:ext cx="4535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644104" y="3146227"/>
            <a:ext cx="4171652" cy="720923"/>
          </a:xfrm>
          <a:prstGeom prst="roundRect">
            <a:avLst>
              <a:gd name="adj" fmla="val 52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663154" y="3146227"/>
            <a:ext cx="0" cy="720923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705" y="3222427"/>
            <a:ext cx="40091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visibility for everyone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705" y="3362027"/>
            <a:ext cx="400916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business context + signals into dashboards. Makes business health visible to all three personas during incidents.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83705" y="3645098"/>
            <a:ext cx="1533823" cy="145852"/>
          </a:xfrm>
          <a:prstGeom prst="roundRect">
            <a:avLst>
              <a:gd name="adj" fmla="val 17415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34455" y="3670399"/>
            <a:ext cx="14609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→ Impact-aware dashboards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82402" y="3905250"/>
            <a:ext cx="4933355" cy="292001"/>
          </a:xfrm>
          <a:prstGeom prst="roundRect">
            <a:avLst>
              <a:gd name="adj" fmla="val 13048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83903" y="3979813"/>
            <a:ext cx="106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64878" y="3956000"/>
            <a:ext cx="4640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provide feedback to Product, Development, and Platform — everyone sees the same business health view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04483" y="1130052"/>
            <a:ext cx="2831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04483" y="1339602"/>
            <a:ext cx="2775942" cy="1713607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23533" y="1358652"/>
            <a:ext cx="2737842" cy="241102"/>
          </a:xfrm>
          <a:prstGeom prst="rect">
            <a:avLst/>
          </a:prstGeom>
          <a:solidFill>
            <a:srgbClr val="D7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25034" y="1422053"/>
            <a:ext cx="25855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CHECK SERVICE [INCIDENT]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25034" y="1871216"/>
            <a:ext cx="253484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5034" y="1714054"/>
            <a:ext cx="7482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Health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86155" y="1714054"/>
            <a:ext cx="483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25034" y="2071241"/>
            <a:ext cx="253484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5034" y="1914079"/>
            <a:ext cx="869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Score Rate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13638" y="1914079"/>
            <a:ext cx="8631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(target: 85%)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25034" y="2271266"/>
            <a:ext cx="253484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25034" y="2114104"/>
            <a:ext cx="7540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Status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75129" y="2114104"/>
            <a:ext cx="596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GREEN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25034" y="2331541"/>
            <a:ext cx="253484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25034" y="2387054"/>
            <a:ext cx="25855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25034" y="2545705"/>
            <a:ext cx="7757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blocked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611493" y="2545705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847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25034" y="2691557"/>
            <a:ext cx="6296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 risk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512820" y="2691557"/>
            <a:ext cx="2519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25034" y="2837408"/>
            <a:ext cx="6700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spike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8480673" y="2837408"/>
            <a:ext cx="2847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+340%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104483" y="3129409"/>
            <a:ext cx="2775942" cy="419100"/>
          </a:xfrm>
          <a:prstGeom prst="roundRect">
            <a:avLst>
              <a:gd name="adj" fmla="val 12121"/>
            </a:avLst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180255" y="3205609"/>
            <a:ext cx="2624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visible in minutes, not an hour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98405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15826"/>
            <a:ext cx="827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Funding Wire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1376" y="720626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Business Observability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7327" y="1104602"/>
            <a:ext cx="32809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IMPROVEMENT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327" y="1320403"/>
            <a:ext cx="3216622" cy="732830"/>
          </a:xfrm>
          <a:prstGeom prst="roundRect">
            <a:avLst>
              <a:gd name="adj" fmla="val 5199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7327" y="1325166"/>
            <a:ext cx="3216622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29186" y="1320403"/>
            <a:ext cx="0" cy="73283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327" y="2048470"/>
            <a:ext cx="3216622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6377" y="1320403"/>
            <a:ext cx="0" cy="7328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1406128"/>
            <a:ext cx="30253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DASHBOARD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56927" y="1680567"/>
            <a:ext cx="296599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156477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duration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545878" y="1564779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hours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56927" y="1826419"/>
            <a:ext cx="296599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927" y="171063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business impact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545878" y="1710630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for manual calculation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56927" y="185648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info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545878" y="1856482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people, digging docs, database queries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17327" y="2116634"/>
            <a:ext cx="3216622" cy="732830"/>
          </a:xfrm>
          <a:prstGeom prst="roundRect">
            <a:avLst>
              <a:gd name="adj" fmla="val 5199"/>
            </a:avLst>
          </a:prstGeom>
          <a:solidFill>
            <a:srgbClr val="F8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7327" y="2121396"/>
            <a:ext cx="3216622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9186" y="2116634"/>
            <a:ext cx="0" cy="73283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327" y="2844701"/>
            <a:ext cx="3216622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377" y="2116634"/>
            <a:ext cx="0" cy="73283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927" y="2202359"/>
            <a:ext cx="30253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DASHBOARD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56927" y="2476798"/>
            <a:ext cx="296599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927" y="236100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duration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545878" y="2361009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hours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56927" y="2622649"/>
            <a:ext cx="296599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927" y="2506861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business impact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545878" y="2506861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— in dashboard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56927" y="2652713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info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545878" y="2652713"/>
            <a:ext cx="21185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impact counts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17327" y="2912864"/>
            <a:ext cx="3216622" cy="621209"/>
          </a:xfrm>
          <a:prstGeom prst="roundRect">
            <a:avLst>
              <a:gd name="adj" fmla="val 613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36377" y="2912864"/>
            <a:ext cx="0" cy="621209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927" y="2989064"/>
            <a:ext cx="30350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56927" y="3112889"/>
            <a:ext cx="303503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understanding across Ops, Product, Dev, Platform. Runbooks, escalation contacts, business flow diagram.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6927" y="3351312"/>
            <a:ext cx="30350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Noise reduction, streamlined triage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886349" y="1104602"/>
            <a:ext cx="5353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86349" y="1257002"/>
            <a:ext cx="5248126" cy="3452217"/>
          </a:xfrm>
          <a:prstGeom prst="roundRect">
            <a:avLst>
              <a:gd name="adj" fmla="val 1104"/>
            </a:avLst>
          </a:prstGeom>
          <a:solidFill>
            <a:srgbClr val="181B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86349" y="1257002"/>
            <a:ext cx="5248126" cy="225326"/>
          </a:xfrm>
          <a:prstGeom prst="rect">
            <a:avLst/>
          </a:prstGeom>
          <a:solidFill>
            <a:srgbClr val="1112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886349" y="1477566"/>
            <a:ext cx="5248126" cy="0"/>
          </a:xfrm>
          <a:prstGeom prst="line">
            <a:avLst/>
          </a:prstGeom>
          <a:noFill/>
          <a:ln w="9525">
            <a:solidFill>
              <a:srgbClr val="2A2D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13299" y="1307753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4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33255" y="1331565"/>
            <a:ext cx="311958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Dashboards / CT-Observability / Business_Observability / CT-HL-Originations-Funding-Service-Wires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4013299" y="1533079"/>
            <a:ext cx="50941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Lending - Originations - Funding Service — Wire Transfers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013299" y="1701254"/>
            <a:ext cx="4994225" cy="463451"/>
          </a:xfrm>
          <a:prstGeom prst="roundRect">
            <a:avLst>
              <a:gd name="adj" fmla="val 5481"/>
            </a:avLst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032349" y="1701254"/>
            <a:ext cx="0" cy="463451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78350" y="1752005"/>
            <a:ext cx="5943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Name: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61012" y="1752005"/>
            <a:ext cx="13448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Service – Wire Transfers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178350" y="1885355"/>
            <a:ext cx="4308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Purpose: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00724" y="1885355"/>
            <a:ext cx="43654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wire transfers for mortgage loan funding. Ensure timely and accurate disbursement of funds to settlement agents or closing parties, maintain compliance, and provide clear audit trails.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013299" y="2215455"/>
            <a:ext cx="50941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Expectations and Impacts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013299" y="2355056"/>
            <a:ext cx="4994225" cy="1005632"/>
          </a:xfrm>
          <a:prstGeom prst="roundRect">
            <a:avLst>
              <a:gd name="adj" fmla="val 2526"/>
            </a:avLst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013299" y="2355056"/>
            <a:ext cx="4994225" cy="187226"/>
          </a:xfrm>
          <a:prstGeom prst="rect">
            <a:avLst/>
          </a:prstGeom>
          <a:solidFill>
            <a:srgbClr val="2A2D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089499" y="2405807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257800" y="2405807"/>
            <a:ext cx="19590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330827" y="2405807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BROKEN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013299" y="2747516"/>
            <a:ext cx="4994225" cy="0"/>
          </a:xfrm>
          <a:prstGeom prst="line">
            <a:avLst/>
          </a:prstGeom>
          <a:noFill/>
          <a:ln w="9525">
            <a:solidFill>
              <a:srgbClr val="2A2D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89499" y="2593032"/>
            <a:ext cx="103621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Borrowers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257800" y="2593032"/>
            <a:ext cx="195903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funds sent on time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330827" y="2593032"/>
            <a:ext cx="163250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delays, dissatisfaction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013299" y="3056483"/>
            <a:ext cx="4994225" cy="0"/>
          </a:xfrm>
          <a:prstGeom prst="line">
            <a:avLst/>
          </a:prstGeom>
          <a:noFill/>
          <a:ln w="9525">
            <a:solidFill>
              <a:srgbClr val="2A2D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89499" y="2803029"/>
            <a:ext cx="103621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Agents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57800" y="2803029"/>
            <a:ext cx="195903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wire transfer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7330827" y="2803029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closings, payment disputes, operational disruption.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089499" y="3111996"/>
            <a:ext cx="103621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Operations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257800" y="3111996"/>
            <a:ext cx="195903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processing and confirmation for compliance and reconciliation.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330827" y="3111996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risk, financial exposure, increased support workload.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013299" y="3474839"/>
            <a:ext cx="50941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/ Payment Transaction Status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013299" y="3595390"/>
            <a:ext cx="4994225" cy="355402"/>
          </a:xfrm>
          <a:prstGeom prst="roundRect">
            <a:avLst>
              <a:gd name="adj" fmla="val 7147"/>
            </a:avLst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13299" y="3595390"/>
            <a:ext cx="4994225" cy="168176"/>
          </a:xfrm>
          <a:prstGeom prst="rect">
            <a:avLst/>
          </a:prstGeom>
          <a:solidFill>
            <a:srgbClr val="2A2D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089499" y="3646140"/>
            <a:ext cx="71241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4940350" y="3646140"/>
            <a:ext cx="21149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SERVICE_LEVEL_INDICATOR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7161144" y="3646140"/>
            <a:ext cx="5181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7821494" y="3646140"/>
            <a:ext cx="5181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82480" y="3646140"/>
            <a:ext cx="45328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4013299" y="3763566"/>
            <a:ext cx="4994225" cy="187226"/>
          </a:xfrm>
          <a:prstGeom prst="rect">
            <a:avLst/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013299" y="3763566"/>
            <a:ext cx="850850" cy="187226"/>
          </a:xfrm>
          <a:prstGeom prst="roundRect">
            <a:avLst>
              <a:gd name="adj" fmla="val 13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089499" y="3814316"/>
            <a:ext cx="7124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09-DEC-2025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4889450" y="3763566"/>
            <a:ext cx="2124670" cy="187226"/>
          </a:xfrm>
          <a:prstGeom prst="roundRect">
            <a:avLst>
              <a:gd name="adj" fmla="val 13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965650" y="3814316"/>
            <a:ext cx="2011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processing success rate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7039421" y="3763566"/>
            <a:ext cx="660350" cy="187226"/>
          </a:xfrm>
          <a:prstGeom prst="roundRect">
            <a:avLst>
              <a:gd name="adj" fmla="val 13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110542" y="3814316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7725073" y="3763566"/>
            <a:ext cx="660350" cy="187226"/>
          </a:xfrm>
          <a:prstGeom prst="roundRect">
            <a:avLst>
              <a:gd name="adj" fmla="val 13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7796193" y="3814316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8410724" y="3763566"/>
            <a:ext cx="596801" cy="187226"/>
          </a:xfrm>
          <a:prstGeom prst="roundRect">
            <a:avLst>
              <a:gd name="adj" fmla="val 135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8482480" y="3814316"/>
            <a:ext cx="453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[OK]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4013299" y="4001542"/>
            <a:ext cx="1323975" cy="631478"/>
          </a:xfrm>
          <a:prstGeom prst="roundRect">
            <a:avLst>
              <a:gd name="adj" fmla="val 6033"/>
            </a:avLst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051825" y="4160044"/>
            <a:ext cx="12469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Operational Date?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4051825" y="4264819"/>
            <a:ext cx="12469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5413474" y="4001542"/>
            <a:ext cx="3594050" cy="631478"/>
          </a:xfrm>
          <a:prstGeom prst="roundRect">
            <a:avLst>
              <a:gd name="adj" fmla="val 6033"/>
            </a:avLst>
          </a:prstGeom>
          <a:solidFill>
            <a:srgbClr val="1E2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5429299" y="4052292"/>
            <a:ext cx="35624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9D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Order - Wire Transfer - Transaction status</a:t>
            </a:r>
            <a:endParaRPr lang="en-US" sz="500" dirty="0"/>
          </a:p>
        </p:txBody>
      </p:sp>
      <p:sp>
        <p:nvSpPr>
          <p:cNvPr id="93" name="Text 91"/>
          <p:cNvSpPr/>
          <p:nvPr/>
        </p:nvSpPr>
        <p:spPr>
          <a:xfrm>
            <a:off x="5464225" y="4182368"/>
            <a:ext cx="835075" cy="399901"/>
          </a:xfrm>
          <a:prstGeom prst="roundRect">
            <a:avLst>
              <a:gd name="adj" fmla="val 9527"/>
            </a:avLst>
          </a:prstGeom>
          <a:solidFill>
            <a:srgbClr val="1112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2"/>
          <p:cNvSpPr/>
          <p:nvPr/>
        </p:nvSpPr>
        <p:spPr>
          <a:xfrm>
            <a:off x="5735687" y="4242643"/>
            <a:ext cx="292001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18163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45212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94736" y="4391769"/>
            <a:ext cx="774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494736" y="4487019"/>
            <a:ext cx="77405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400" dirty="0"/>
          </a:p>
        </p:txBody>
      </p:sp>
      <p:sp>
        <p:nvSpPr>
          <p:cNvPr id="99" name="Text 97"/>
          <p:cNvSpPr/>
          <p:nvPr/>
        </p:nvSpPr>
        <p:spPr>
          <a:xfrm>
            <a:off x="6350050" y="4182368"/>
            <a:ext cx="835075" cy="399901"/>
          </a:xfrm>
          <a:prstGeom prst="roundRect">
            <a:avLst>
              <a:gd name="adj" fmla="val 9527"/>
            </a:avLst>
          </a:prstGeom>
          <a:solidFill>
            <a:srgbClr val="1112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6621512" y="4242643"/>
            <a:ext cx="292001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903988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31037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80561" y="4391769"/>
            <a:ext cx="774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380561" y="4487019"/>
            <a:ext cx="77405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400" dirty="0"/>
          </a:p>
        </p:txBody>
      </p:sp>
      <p:sp>
        <p:nvSpPr>
          <p:cNvPr id="105" name="Text 103"/>
          <p:cNvSpPr/>
          <p:nvPr/>
        </p:nvSpPr>
        <p:spPr>
          <a:xfrm>
            <a:off x="7235875" y="4182368"/>
            <a:ext cx="835075" cy="399901"/>
          </a:xfrm>
          <a:prstGeom prst="roundRect">
            <a:avLst>
              <a:gd name="adj" fmla="val 9527"/>
            </a:avLst>
          </a:prstGeom>
          <a:solidFill>
            <a:srgbClr val="1112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Shape 104"/>
          <p:cNvSpPr/>
          <p:nvPr/>
        </p:nvSpPr>
        <p:spPr>
          <a:xfrm>
            <a:off x="7507337" y="4242643"/>
            <a:ext cx="292001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89813" y="4233118"/>
            <a:ext cx="0" cy="14600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16862" y="4233118"/>
            <a:ext cx="0" cy="146000"/>
          </a:xfrm>
          <a:prstGeom prst="line">
            <a:avLst/>
          </a:prstGeom>
          <a:noFill/>
          <a:ln w="19050">
            <a:solidFill>
              <a:srgbClr val="E74C3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66386" y="4391769"/>
            <a:ext cx="774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7266386" y="4487019"/>
            <a:ext cx="77405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&gt;1HR</a:t>
            </a:r>
            <a:endParaRPr lang="en-US" sz="400" dirty="0"/>
          </a:p>
        </p:txBody>
      </p:sp>
      <p:sp>
        <p:nvSpPr>
          <p:cNvPr id="111" name="Text 109"/>
          <p:cNvSpPr/>
          <p:nvPr/>
        </p:nvSpPr>
        <p:spPr>
          <a:xfrm>
            <a:off x="8121700" y="4182368"/>
            <a:ext cx="835075" cy="399901"/>
          </a:xfrm>
          <a:prstGeom prst="roundRect">
            <a:avLst>
              <a:gd name="adj" fmla="val 9527"/>
            </a:avLst>
          </a:prstGeom>
          <a:solidFill>
            <a:srgbClr val="1112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Shape 110"/>
          <p:cNvSpPr/>
          <p:nvPr/>
        </p:nvSpPr>
        <p:spPr>
          <a:xfrm>
            <a:off x="8393162" y="4242643"/>
            <a:ext cx="292001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675638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02687" y="4233118"/>
            <a:ext cx="0" cy="14600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152211" y="4391769"/>
            <a:ext cx="7740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8152211" y="4487019"/>
            <a:ext cx="77405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&gt;2HR</a:t>
            </a:r>
            <a:endParaRPr lang="en-US" sz="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98405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15826"/>
            <a:ext cx="827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Make This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1376" y="720626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from each persona and investments to get there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376" y="1104602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BY PERSONA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1376" y="1339453"/>
            <a:ext cx="3978325" cy="1941612"/>
          </a:xfrm>
          <a:prstGeom prst="roundRect">
            <a:avLst>
              <a:gd name="adj" fmla="val 2616"/>
            </a:avLst>
          </a:prstGeom>
          <a:solidFill>
            <a:srgbClr val="F8F9F9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07852" y="2110085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7852" y="1513880"/>
            <a:ext cx="194518" cy="228600"/>
          </a:xfrm>
          <a:prstGeom prst="roundRect">
            <a:avLst>
              <a:gd name="adj" fmla="val 470085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0891" y="1580555"/>
            <a:ext cx="1310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65771" y="1532930"/>
            <a:ext cx="51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69852" y="1513880"/>
            <a:ext cx="3002241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 for each service: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are the stakeholders? What are their expectations? What are the impacts if those expectations aren't met (customer, financial, compliance, operational)?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07852" y="2642443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852" y="217824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0771" y="2244923"/>
            <a:ext cx="1864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99852" y="2244923"/>
            <a:ext cx="413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69852" y="2178248"/>
            <a:ext cx="3002241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 of business signals: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Telemetry that tracks outcomes, not just errors. Signals that answer "is this working for customers?" built into the code.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07852" y="2710607"/>
            <a:ext cx="213717" cy="228600"/>
          </a:xfrm>
          <a:prstGeom prst="roundRect">
            <a:avLst>
              <a:gd name="adj" fmla="val 42785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0800" y="2777282"/>
            <a:ext cx="191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4970" y="2729657"/>
            <a:ext cx="494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Ops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669852" y="2710607"/>
            <a:ext cx="3002241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Enablement and tooling: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Capacity to onboard teams, templates for Splunk/Grafana, standard dashboard patterns, documentation for the process.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1376" y="3344466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HELPS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1376" y="3579316"/>
            <a:ext cx="3978325" cy="1188095"/>
          </a:xfrm>
          <a:prstGeom prst="roundRect">
            <a:avLst>
              <a:gd name="adj" fmla="val 4276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90426" y="3579316"/>
            <a:ext cx="0" cy="1188095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6427" y="3680817"/>
            <a:ext cx="376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THE ONBOARDING PROCESS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36427" y="3845868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getting business context from Product Owners. Traditionally, a 90-minute session where they fill out forms from scratch.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6427" y="4160639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AI, we extract business intent from existing artifacts — Jira epics, Confluence pages. The PO's role shifts from </a:t>
            </a:r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36427" y="4475411"/>
            <a:ext cx="376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Tested with Loan Rate Amendment team. AI pre-populated onboarding form from their Jira backlog.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02101" y="1104602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TODAY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02101" y="1339453"/>
            <a:ext cx="3978325" cy="1317724"/>
          </a:xfrm>
          <a:prstGeom prst="roundRect">
            <a:avLst>
              <a:gd name="adj" fmla="val 3855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921151" y="1339453"/>
            <a:ext cx="0" cy="1317724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7151" y="1440954"/>
            <a:ext cx="376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SYSTEM OF RECORD FOR BUSINESS CONTEXT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67151" y="1606004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lack a structured place for business flows, stakeholder expectations, and impact definitions. Existing systems don't solve this: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67151" y="1920776"/>
            <a:ext cx="3686324" cy="45214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20"/>
              </a:lnSpc>
              <a:spcAft>
                <a:spcPts val="100"/>
              </a:spcAft>
              <a:buSzPct val="100000"/>
              <a:buChar char="•"/>
            </a:pPr>
            <a:r>
              <a:rPr lang="en-US" sz="800" b="1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Registry</a:t>
            </a:r>
            <a:pPr algn="l" indent="0" marL="0">
              <a:lnSpc>
                <a:spcPts val="112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tracks applications, not business outcomes</a:t>
            </a:r>
            <a:endParaRPr lang="en-US" sz="800" dirty="0"/>
          </a:p>
          <a:p>
            <a:pPr algn="l" marL="76200" indent="-76200">
              <a:lnSpc>
                <a:spcPts val="1120"/>
              </a:lnSpc>
              <a:spcAft>
                <a:spcPts val="100"/>
              </a:spcAft>
              <a:buSzPct val="100000"/>
              <a:buChar char="•"/>
            </a:pPr>
            <a:r>
              <a:rPr lang="en-US" sz="800" b="1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Management</a:t>
            </a:r>
            <a:pPr algn="l" indent="0" marL="0">
              <a:lnSpc>
                <a:spcPts val="112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stores SLAs, not success criteria</a:t>
            </a:r>
            <a:endParaRPr lang="en-US" sz="800" dirty="0"/>
          </a:p>
          <a:p>
            <a:pPr algn="l" marL="76200" indent="-76200">
              <a:lnSpc>
                <a:spcPts val="1120"/>
              </a:lnSpc>
              <a:spcAft>
                <a:spcPts val="100"/>
              </a:spcAft>
              <a:buSzPct val="100000"/>
              <a:buChar char="•"/>
            </a:pPr>
            <a:r>
              <a:rPr lang="en-US" sz="800" b="1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registries</a:t>
            </a:r>
            <a:pPr algn="l" indent="0" marL="0">
              <a:lnSpc>
                <a:spcPts val="112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technical components, not logical business services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67151" y="2423666"/>
            <a:ext cx="376005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Product Owner leaves, the business context leaves with them.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02101" y="2720578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INVESTMENTS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02101" y="2955429"/>
            <a:ext cx="3978325" cy="1601986"/>
          </a:xfrm>
          <a:prstGeom prst="roundRect">
            <a:avLst>
              <a:gd name="adj" fmla="val 3171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921151" y="2955429"/>
            <a:ext cx="0" cy="1601986"/>
          </a:xfrm>
          <a:prstGeom prst="line">
            <a:avLst/>
          </a:prstGeom>
          <a:noFill/>
          <a:ln w="38100">
            <a:solidFill>
              <a:srgbClr val="F4D0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7151" y="3056930"/>
            <a:ext cx="3760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9A7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INVESTMENTS NEEDED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67151" y="3247430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Product Owner engagement time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defining business context takes effort; teams need allocation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67151" y="3549551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Platform Ops capacity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dedicated allocation for enablement and onboarding support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67151" y="3851672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Tooling integration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Splunk/Grafana templates, alert definitions, dashboard components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67151" y="4153793"/>
            <a:ext cx="3760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Baseline measurement</a:t>
            </a:r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current time-to-impact, coverage %, alert noise ratio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426" y="984052"/>
            <a:ext cx="9124950" cy="0"/>
          </a:xfrm>
          <a:prstGeom prst="line">
            <a:avLst/>
          </a:prstGeom>
          <a:noFill/>
          <a:ln w="38100">
            <a:solidFill>
              <a:srgbClr val="FFB8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1376" y="415826"/>
            <a:ext cx="827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1376" y="720626"/>
            <a:ext cx="8271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leadership to make this happen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376" y="1079302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1376" y="1263402"/>
            <a:ext cx="3978325" cy="2142381"/>
          </a:xfrm>
          <a:prstGeom prst="roundRect">
            <a:avLst>
              <a:gd name="adj" fmla="val 2371"/>
            </a:avLst>
          </a:prstGeom>
          <a:solidFill>
            <a:srgbClr val="F8F9F9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07852" y="1821656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7852" y="145062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7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9381" y="150614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3253" y="1450628"/>
            <a:ext cx="3416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3253" y="1618804"/>
            <a:ext cx="341697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Observability as a 2026 priority for operational improvement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07852" y="2273647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852" y="190261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7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9381" y="195813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3253" y="1902619"/>
            <a:ext cx="3416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3253" y="2070795"/>
            <a:ext cx="341697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team allocation for 2026 work for enabling the capability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7852" y="2847529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852" y="235461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7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99381" y="241012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3253" y="2354610"/>
            <a:ext cx="3416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63253" y="2522786"/>
            <a:ext cx="341697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 that Product and Development teams for Tier-1 services will participate in onboarding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07852" y="292849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71E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9381" y="298400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3253" y="2928491"/>
            <a:ext cx="3416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63253" y="3096667"/>
            <a:ext cx="3416972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check-ins to track progress against the key results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02101" y="1079302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IN RETURN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2101" y="1263402"/>
            <a:ext cx="3978325" cy="2303859"/>
          </a:xfrm>
          <a:prstGeom prst="roundRect">
            <a:avLst>
              <a:gd name="adj" fmla="val 2205"/>
            </a:avLst>
          </a:prstGeom>
          <a:solidFill>
            <a:srgbClr val="EAFAF1"/>
          </a:solidFill>
          <a:ln w="9525">
            <a:solidFill>
              <a:srgbClr val="A9DF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38576" y="1349127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89041" y="1476077"/>
            <a:ext cx="3626007" cy="27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visibility during incidents</a:t>
            </a:r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know customer and dollar impact in minutes, not an hour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38576" y="1882229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9041" y="2009180"/>
            <a:ext cx="3626007" cy="27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incident response</a:t>
            </a:r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less time in "how bad is this?" discussions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576" y="2415332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89041" y="2542282"/>
            <a:ext cx="3626007" cy="27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 measurement</a:t>
            </a:r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dashboards showing if services meet business goals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38576" y="2948434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9041" y="3075384"/>
            <a:ext cx="3626007" cy="27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onboarding</a:t>
            </a:r>
            <a:pPr algn="l" indent="0" marL="0">
              <a:lnSpc>
                <a:spcPts val="1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AI-assisted process to get 20+ teams onboarded in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2101" y="3618012"/>
            <a:ext cx="40578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KEY RESULTS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02101" y="3802112"/>
            <a:ext cx="3978325" cy="948482"/>
          </a:xfrm>
          <a:prstGeom prst="roundRect">
            <a:avLst>
              <a:gd name="adj" fmla="val 5356"/>
            </a:avLst>
          </a:prstGeom>
          <a:solidFill>
            <a:srgbClr val="F8F9F9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8576" y="3887837"/>
            <a:ext cx="37794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OUTCOMES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38576" y="4203502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38576" y="4078188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KR-BOS-1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00576" y="4078188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services documented with business success criteria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96351" y="407818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38576" y="4358878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38576" y="4233565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KR-BOS-2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00576" y="4233565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flows with business health signals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096351" y="4233565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038576" y="4514255"/>
            <a:ext cx="370537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38576" y="4388941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KR-BOS-3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00576" y="4388941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confirm business impact during incidents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096351" y="4388941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or less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038576" y="4544318"/>
            <a:ext cx="7772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KR-BOS-4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800576" y="4544318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teams onboarded via repeatable process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096351" y="4544318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Observability System - Executive Briefing</dc:title>
  <dc:subject>PptxGenJS Presentation</dc:subject>
  <dc:creator>BOS Team</dc:creator>
  <cp:lastModifiedBy>BOS Team</cp:lastModifiedBy>
  <cp:revision>1</cp:revision>
  <dcterms:created xsi:type="dcterms:W3CDTF">2025-12-10T14:09:26Z</dcterms:created>
  <dcterms:modified xsi:type="dcterms:W3CDTF">2025-12-10T14:09:26Z</dcterms:modified>
</cp:coreProperties>
</file>